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D6969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F56CC7-8626-4CFC-9E1D-9E056567B331}" v="1" dt="2025-12-12T07:38:52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P M" userId="fd7451df8d1c3d6a" providerId="LiveId" clId="{682DFC4E-4CB7-4A8F-AE51-DFFD71BCF300}"/>
    <pc:docChg chg="undo custSel modSld sldOrd">
      <pc:chgData name="JP M" userId="fd7451df8d1c3d6a" providerId="LiveId" clId="{682DFC4E-4CB7-4A8F-AE51-DFFD71BCF300}" dt="2025-12-12T07:45:02.634" v="96" actId="113"/>
      <pc:docMkLst>
        <pc:docMk/>
      </pc:docMkLst>
      <pc:sldChg chg="modSp mod">
        <pc:chgData name="JP M" userId="fd7451df8d1c3d6a" providerId="LiveId" clId="{682DFC4E-4CB7-4A8F-AE51-DFFD71BCF300}" dt="2025-12-12T07:43:40.240" v="76" actId="20577"/>
        <pc:sldMkLst>
          <pc:docMk/>
          <pc:sldMk cId="0" sldId="281"/>
        </pc:sldMkLst>
        <pc:spChg chg="mod">
          <ac:chgData name="JP M" userId="fd7451df8d1c3d6a" providerId="LiveId" clId="{682DFC4E-4CB7-4A8F-AE51-DFFD71BCF300}" dt="2025-12-12T07:42:14.775" v="64" actId="20577"/>
          <ac:spMkLst>
            <pc:docMk/>
            <pc:sldMk cId="0" sldId="281"/>
            <ac:spMk id="8" creationId="{F3A2165F-8401-48DA-9FC7-B614DA4BFC11}"/>
          </ac:spMkLst>
        </pc:spChg>
        <pc:spChg chg="mod">
          <ac:chgData name="JP M" userId="fd7451df8d1c3d6a" providerId="LiveId" clId="{682DFC4E-4CB7-4A8F-AE51-DFFD71BCF300}" dt="2025-12-12T07:43:40.240" v="76" actId="20577"/>
          <ac:spMkLst>
            <pc:docMk/>
            <pc:sldMk cId="0" sldId="281"/>
            <ac:spMk id="11" creationId="{6606B4B1-4068-C7AF-805F-B3239BAD40BE}"/>
          </ac:spMkLst>
        </pc:spChg>
        <pc:spChg chg="mod">
          <ac:chgData name="JP M" userId="fd7451df8d1c3d6a" providerId="LiveId" clId="{682DFC4E-4CB7-4A8F-AE51-DFFD71BCF300}" dt="2025-12-12T07:38:52.235" v="30"/>
          <ac:spMkLst>
            <pc:docMk/>
            <pc:sldMk cId="0" sldId="281"/>
            <ac:spMk id="15361" creationId="{00000000-0000-0000-0000-000000000000}"/>
          </ac:spMkLst>
        </pc:spChg>
      </pc:sldChg>
      <pc:sldChg chg="modSp mod">
        <pc:chgData name="JP M" userId="fd7451df8d1c3d6a" providerId="LiveId" clId="{682DFC4E-4CB7-4A8F-AE51-DFFD71BCF300}" dt="2025-12-12T07:44:07.535" v="79" actId="14100"/>
        <pc:sldMkLst>
          <pc:docMk/>
          <pc:sldMk cId="0" sldId="290"/>
        </pc:sldMkLst>
        <pc:spChg chg="mod">
          <ac:chgData name="JP M" userId="fd7451df8d1c3d6a" providerId="LiveId" clId="{682DFC4E-4CB7-4A8F-AE51-DFFD71BCF300}" dt="2025-12-12T07:34:31.204" v="22" actId="20577"/>
          <ac:spMkLst>
            <pc:docMk/>
            <pc:sldMk cId="0" sldId="290"/>
            <ac:spMk id="16" creationId="{73281C44-3401-4083-A093-20438EBF6845}"/>
          </ac:spMkLst>
        </pc:spChg>
        <pc:picChg chg="mod">
          <ac:chgData name="JP M" userId="fd7451df8d1c3d6a" providerId="LiveId" clId="{682DFC4E-4CB7-4A8F-AE51-DFFD71BCF300}" dt="2025-12-12T07:44:07.535" v="79" actId="14100"/>
          <ac:picMkLst>
            <pc:docMk/>
            <pc:sldMk cId="0" sldId="290"/>
            <ac:picMk id="18" creationId="{7A639B6A-57DF-81C7-2AF3-FAAE02430057}"/>
          </ac:picMkLst>
        </pc:picChg>
      </pc:sldChg>
      <pc:sldChg chg="modSp mod">
        <pc:chgData name="JP M" userId="fd7451df8d1c3d6a" providerId="LiveId" clId="{682DFC4E-4CB7-4A8F-AE51-DFFD71BCF300}" dt="2025-12-12T07:34:04.478" v="3" actId="2165"/>
        <pc:sldMkLst>
          <pc:docMk/>
          <pc:sldMk cId="0" sldId="291"/>
        </pc:sldMkLst>
        <pc:graphicFrameChg chg="modGraphic">
          <ac:chgData name="JP M" userId="fd7451df8d1c3d6a" providerId="LiveId" clId="{682DFC4E-4CB7-4A8F-AE51-DFFD71BCF300}" dt="2025-12-12T07:34:04.478" v="3" actId="2165"/>
          <ac:graphicFrameMkLst>
            <pc:docMk/>
            <pc:sldMk cId="0" sldId="291"/>
            <ac:graphicFrameMk id="2" creationId="{8D9D16A6-9E4C-CDC2-3B59-37D4017A881E}"/>
          </ac:graphicFrameMkLst>
        </pc:graphicFrameChg>
      </pc:sldChg>
      <pc:sldChg chg="modSp mod">
        <pc:chgData name="JP M" userId="fd7451df8d1c3d6a" providerId="LiveId" clId="{682DFC4E-4CB7-4A8F-AE51-DFFD71BCF300}" dt="2025-12-12T07:41:14.189" v="46" actId="20577"/>
        <pc:sldMkLst>
          <pc:docMk/>
          <pc:sldMk cId="3753387913" sldId="293"/>
        </pc:sldMkLst>
        <pc:spChg chg="mod">
          <ac:chgData name="JP M" userId="fd7451df8d1c3d6a" providerId="LiveId" clId="{682DFC4E-4CB7-4A8F-AE51-DFFD71BCF300}" dt="2025-12-12T07:41:14.189" v="46" actId="20577"/>
          <ac:spMkLst>
            <pc:docMk/>
            <pc:sldMk cId="3753387913" sldId="293"/>
            <ac:spMk id="16" creationId="{6B3E8DFC-20B6-4390-8039-CB673810A3F1}"/>
          </ac:spMkLst>
        </pc:spChg>
        <pc:spChg chg="mod">
          <ac:chgData name="JP M" userId="fd7451df8d1c3d6a" providerId="LiveId" clId="{682DFC4E-4CB7-4A8F-AE51-DFFD71BCF300}" dt="2025-12-12T07:39:12.142" v="33" actId="20577"/>
          <ac:spMkLst>
            <pc:docMk/>
            <pc:sldMk cId="3753387913" sldId="293"/>
            <ac:spMk id="18" creationId="{859EFD69-B2C7-4F75-A239-D696ECAA8542}"/>
          </ac:spMkLst>
        </pc:spChg>
        <pc:spChg chg="mod">
          <ac:chgData name="JP M" userId="fd7451df8d1c3d6a" providerId="LiveId" clId="{682DFC4E-4CB7-4A8F-AE51-DFFD71BCF300}" dt="2025-12-12T07:39:13.485" v="34" actId="20577"/>
          <ac:spMkLst>
            <pc:docMk/>
            <pc:sldMk cId="3753387913" sldId="293"/>
            <ac:spMk id="20" creationId="{E465B8F8-0EF9-4BFB-BA2B-334D3D4A1A2F}"/>
          </ac:spMkLst>
        </pc:spChg>
      </pc:sldChg>
      <pc:sldChg chg="modSp mod">
        <pc:chgData name="JP M" userId="fd7451df8d1c3d6a" providerId="LiveId" clId="{682DFC4E-4CB7-4A8F-AE51-DFFD71BCF300}" dt="2025-12-12T07:45:02.634" v="96" actId="113"/>
        <pc:sldMkLst>
          <pc:docMk/>
          <pc:sldMk cId="2997144140" sldId="294"/>
        </pc:sldMkLst>
        <pc:spChg chg="mod">
          <ac:chgData name="JP M" userId="fd7451df8d1c3d6a" providerId="LiveId" clId="{682DFC4E-4CB7-4A8F-AE51-DFFD71BCF300}" dt="2025-12-12T07:34:58.843" v="29" actId="20577"/>
          <ac:spMkLst>
            <pc:docMk/>
            <pc:sldMk cId="2997144140" sldId="294"/>
            <ac:spMk id="11" creationId="{77D1A9BF-CA50-7E3C-3D86-5D16F2C5F3A3}"/>
          </ac:spMkLst>
        </pc:spChg>
        <pc:spChg chg="mod">
          <ac:chgData name="JP M" userId="fd7451df8d1c3d6a" providerId="LiveId" clId="{682DFC4E-4CB7-4A8F-AE51-DFFD71BCF300}" dt="2025-12-12T07:45:02.634" v="96" actId="113"/>
          <ac:spMkLst>
            <pc:docMk/>
            <pc:sldMk cId="2997144140" sldId="294"/>
            <ac:spMk id="17410" creationId="{00000000-0000-0000-0000-000000000000}"/>
          </ac:spMkLst>
        </pc:spChg>
      </pc:sldChg>
      <pc:sldChg chg="modSp mod ord">
        <pc:chgData name="JP M" userId="fd7451df8d1c3d6a" providerId="LiveId" clId="{682DFC4E-4CB7-4A8F-AE51-DFFD71BCF300}" dt="2025-12-12T07:44:33.551" v="86" actId="20577"/>
        <pc:sldMkLst>
          <pc:docMk/>
          <pc:sldMk cId="3916788613" sldId="296"/>
        </pc:sldMkLst>
        <pc:spChg chg="mod">
          <ac:chgData name="JP M" userId="fd7451df8d1c3d6a" providerId="LiveId" clId="{682DFC4E-4CB7-4A8F-AE51-DFFD71BCF300}" dt="2025-12-12T07:44:33.551" v="86" actId="20577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4.05696?utm_source=chatgpt.com" TargetMode="External"/><Relationship Id="rId3" Type="http://schemas.openxmlformats.org/officeDocument/2006/relationships/hyperlink" Target="https://manual.obis.org/dna_data?utm_source=chatgpt.com" TargetMode="External"/><Relationship Id="rId7" Type="http://schemas.openxmlformats.org/officeDocument/2006/relationships/hyperlink" Target="https://arxiv.org/abs/2109.14646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bmg.pensoft.net/article/128689/?utm_source=chatgpt.com" TargetMode="External"/><Relationship Id="rId5" Type="http://schemas.openxmlformats.org/officeDocument/2006/relationships/hyperlink" Target="https://repository.library.noaa.gov/view/noaa/58920?utm_source=chatgpt.com" TargetMode="External"/><Relationship Id="rId10" Type="http://schemas.openxmlformats.org/officeDocument/2006/relationships/image" Target="../media/image1.png"/><Relationship Id="rId4" Type="http://schemas.openxmlformats.org/officeDocument/2006/relationships/hyperlink" Target="https://docs.gbif.org/publishing-dna-derived-data/en/?utm_source=chatgpt.com" TargetMode="External"/><Relationship Id="rId9" Type="http://schemas.openxmlformats.org/officeDocument/2006/relationships/hyperlink" Target="https://indobis.in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D9D16A6-9E4C-CDC2-3B59-37D4017A8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729877"/>
              </p:ext>
            </p:extLst>
          </p:nvPr>
        </p:nvGraphicFramePr>
        <p:xfrm>
          <a:off x="267488" y="1922353"/>
          <a:ext cx="11719200" cy="4030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5535">
                  <a:extLst>
                    <a:ext uri="{9D8B030D-6E8A-4147-A177-3AD203B41FA5}">
                      <a16:colId xmlns:a16="http://schemas.microsoft.com/office/drawing/2014/main" val="2358930191"/>
                    </a:ext>
                  </a:extLst>
                </a:gridCol>
                <a:gridCol w="7733665">
                  <a:extLst>
                    <a:ext uri="{9D8B030D-6E8A-4147-A177-3AD203B41FA5}">
                      <a16:colId xmlns:a16="http://schemas.microsoft.com/office/drawing/2014/main" val="2958474505"/>
                    </a:ext>
                  </a:extLst>
                </a:gridCol>
              </a:tblGrid>
              <a:tr h="6754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 Statement ID 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itchFamily="1" charset="-128"/>
                          <a:cs typeface="Arial" panose="020B0604020202020204" pitchFamily="34" charset="0"/>
                        </a:rPr>
                        <a:t>SIH25041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16376"/>
                  </a:ext>
                </a:extLst>
              </a:tr>
              <a:tr h="11778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 Statement Title-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itchFamily="1" charset="-128"/>
                          <a:cs typeface="Arial" panose="020B0604020202020204" pitchFamily="34" charset="0"/>
                        </a:rPr>
                        <a:t>AI-Driven Unified Data Platform for Oceanographic, Fisheries, and Molecular Biodiversity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738112"/>
                  </a:ext>
                </a:extLst>
              </a:tr>
              <a:tr h="62732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Theme-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itchFamily="1" charset="-128"/>
                          <a:cs typeface="Arial" panose="020B0604020202020204" pitchFamily="34" charset="0"/>
                        </a:rPr>
                        <a:t>Sustainable Energy </a:t>
                      </a:r>
                      <a:r>
                        <a:rPr lang="en-IN" sz="2400" dirty="0"/>
                        <a:t>(Blue Economy &amp; Marine Biodiversity)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000889"/>
                  </a:ext>
                </a:extLst>
              </a:tr>
              <a:tr h="6363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 Category-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839648"/>
                  </a:ext>
                </a:extLst>
              </a:tr>
              <a:tr h="913631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2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Name (Registered on portal)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itchFamily="1" charset="-128"/>
                          <a:cs typeface="Arial" panose="020B0604020202020204" pitchFamily="34" charset="0"/>
                        </a:rPr>
                        <a:t>Aqua Avengers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1626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136066-5ABB-16D8-58F5-1BEEB3422F61}"/>
              </a:ext>
            </a:extLst>
          </p:cNvPr>
          <p:cNvSpPr/>
          <p:nvPr/>
        </p:nvSpPr>
        <p:spPr>
          <a:xfrm>
            <a:off x="7118429" y="1163539"/>
            <a:ext cx="4832698" cy="4943043"/>
          </a:xfrm>
          <a:prstGeom prst="rect">
            <a:avLst/>
          </a:prstGeom>
          <a:noFill/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0070C0"/>
                </a:solidFill>
              </a:ln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40BB39-76F4-84A8-97A2-D2740C21D7C2}"/>
              </a:ext>
            </a:extLst>
          </p:cNvPr>
          <p:cNvSpPr/>
          <p:nvPr/>
        </p:nvSpPr>
        <p:spPr>
          <a:xfrm>
            <a:off x="182998" y="1179965"/>
            <a:ext cx="6646065" cy="4943043"/>
          </a:xfrm>
          <a:prstGeom prst="rect">
            <a:avLst/>
          </a:prstGeom>
          <a:noFill/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2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39373"/>
            <a:ext cx="10972800" cy="930194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CC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MARINEXPLORE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06354" y="1163539"/>
            <a:ext cx="23454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Proposed Idea </a:t>
            </a:r>
            <a:endParaRPr lang="en-US" sz="1400" u="sng" dirty="0">
              <a:solidFill>
                <a:srgbClr val="0000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3657" y="6430784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2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61C886EC-C7B9-568F-74C5-FAFDC75C7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4" y="3503395"/>
            <a:ext cx="28366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1400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7F37DA11-2106-C5A2-A02F-43879FBAD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601" y="1176343"/>
            <a:ext cx="258457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Prototype</a:t>
            </a:r>
            <a:endParaRPr lang="en-US" sz="1400" u="sng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A2165F-8401-48DA-9FC7-B614DA4BFC11}"/>
              </a:ext>
            </a:extLst>
          </p:cNvPr>
          <p:cNvSpPr txBox="1"/>
          <p:nvPr/>
        </p:nvSpPr>
        <p:spPr>
          <a:xfrm>
            <a:off x="568960" y="1607123"/>
            <a:ext cx="552704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marine intelligence platform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700" b="1" dirty="0"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Unifies ocean, fisheries &amp; DNA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(breaks silos)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ingestion </a:t>
            </a:r>
            <a:r>
              <a:rPr lang="en-US" altLang="en-US" sz="1600" dirty="0"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 , analysis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AI &amp; dashboards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 insights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tools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scientists &amp; students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13B92-4DD6-432B-9608-9E526711F236}"/>
              </a:ext>
            </a:extLst>
          </p:cNvPr>
          <p:cNvSpPr txBox="1"/>
          <p:nvPr/>
        </p:nvSpPr>
        <p:spPr>
          <a:xfrm>
            <a:off x="568959" y="4007464"/>
            <a:ext cx="626010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Ingestion Module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handles multi-format marine datasets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Engine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auto-cleaning, validation, ML predictions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Storage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scalable + secure (structured &amp; unstructured)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real-time, interactive insights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Suite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co-create, analyze, publish seamlessly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6B4B1-4068-C7AF-805F-B3239BAD40BE}"/>
              </a:ext>
            </a:extLst>
          </p:cNvPr>
          <p:cNvSpPr txBox="1"/>
          <p:nvPr/>
        </p:nvSpPr>
        <p:spPr>
          <a:xfrm>
            <a:off x="7215023" y="1456249"/>
            <a:ext cx="4584087" cy="47705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600" dirty="0">
                <a:latin typeface="+mj-lt"/>
              </a:rPr>
              <a:t>Our MVP demonstrates a </a:t>
            </a:r>
            <a:r>
              <a:rPr lang="en-IN" sz="1600" b="1" dirty="0">
                <a:latin typeface="+mj-lt"/>
              </a:rPr>
              <a:t>cloud-ready, modular platform</a:t>
            </a:r>
            <a:r>
              <a:rPr lang="en-IN" sz="1600" dirty="0">
                <a:latin typeface="+mj-lt"/>
              </a:rPr>
              <a:t> with:</a:t>
            </a:r>
          </a:p>
          <a:p>
            <a:endParaRPr lang="en-IN" sz="1600" dirty="0">
              <a:latin typeface="+mj-lt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1600" b="1" dirty="0"/>
              <a:t>Automated Data Ingestion Pipelines</a:t>
            </a:r>
            <a:r>
              <a:rPr lang="en-IN" sz="1600" dirty="0"/>
              <a:t> : Handling structured and unstructured datasets (oceanographic, fisheries, taxonomy, eDNA).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600" b="1" dirty="0"/>
              <a:t>AI-Powered Modules</a:t>
            </a:r>
            <a:r>
              <a:rPr lang="en-IN" sz="1600" dirty="0"/>
              <a:t> : Species classification (taxonomy), otolith morphometrics visualization, biodiversity trend analysis.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600" b="1" dirty="0"/>
              <a:t>Molecular Data Integration</a:t>
            </a:r>
            <a:r>
              <a:rPr lang="en-IN" sz="1600" dirty="0"/>
              <a:t> : eDNA storage, retrieval, and species matching using BLAST search.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600" b="1" dirty="0"/>
              <a:t>Visualization Dashboards</a:t>
            </a:r>
            <a:r>
              <a:rPr lang="en-IN" sz="1600" dirty="0"/>
              <a:t> : Interactive graphs for oceanographic parameters, biodiversity indices, and fish distribution patterns.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600" b="1" dirty="0"/>
              <a:t>APIs &amp; Microservices</a:t>
            </a:r>
            <a:r>
              <a:rPr lang="en-IN" sz="1600" dirty="0"/>
              <a:t> : Scalable, interoperable architecture ensuring future adoption and integration.</a:t>
            </a:r>
          </a:p>
          <a:p>
            <a:endParaRPr lang="en-IN" sz="1600" dirty="0"/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9175C98E-BAE2-533F-11EA-3C95F5E188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71280"/>
            <a:ext cx="1870219" cy="9883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Aqua Avengers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BDF29CF1-BC91-FFB1-DD14-FFDFB737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768" y="6421595"/>
            <a:ext cx="11895020" cy="365125"/>
          </a:xfrm>
        </p:spPr>
        <p:txBody>
          <a:bodyPr/>
          <a:lstStyle/>
          <a:p>
            <a:pPr algn="l">
              <a:defRPr/>
            </a:pPr>
            <a:r>
              <a:rPr lang="en-GB" sz="2000" b="1" dirty="0">
                <a:solidFill>
                  <a:schemeClr val="bg1"/>
                </a:solidFill>
              </a:rPr>
              <a:t>AI-Driven Unified Data Platform for Oceanographic, Fisheries, and Molecular Biodiversity Insights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C1C80E-EE87-936E-060A-E19A7060CDF3}"/>
              </a:ext>
            </a:extLst>
          </p:cNvPr>
          <p:cNvSpPr/>
          <p:nvPr/>
        </p:nvSpPr>
        <p:spPr>
          <a:xfrm>
            <a:off x="329773" y="1200097"/>
            <a:ext cx="5577968" cy="5018143"/>
          </a:xfrm>
          <a:prstGeom prst="rect">
            <a:avLst/>
          </a:prstGeom>
          <a:noFill/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184563"/>
            <a:ext cx="10972800" cy="867936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CC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1136" y="6420151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>
                <a:solidFill>
                  <a:schemeClr val="bg1"/>
                </a:solidFill>
              </a:rPr>
              <a:pPr/>
              <a:t>3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B7F471-977D-6898-0BFD-6395F283E038}"/>
              </a:ext>
            </a:extLst>
          </p:cNvPr>
          <p:cNvSpPr/>
          <p:nvPr/>
        </p:nvSpPr>
        <p:spPr>
          <a:xfrm>
            <a:off x="6096000" y="1200097"/>
            <a:ext cx="5766228" cy="4998011"/>
          </a:xfrm>
          <a:prstGeom prst="rect">
            <a:avLst/>
          </a:prstGeom>
          <a:noFill/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63790C-EE3E-CEC4-0FF1-D028D3D1F337}"/>
              </a:ext>
            </a:extLst>
          </p:cNvPr>
          <p:cNvSpPr txBox="1"/>
          <p:nvPr/>
        </p:nvSpPr>
        <p:spPr>
          <a:xfrm>
            <a:off x="6095999" y="1209153"/>
            <a:ext cx="5766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METHODOLOGY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9F16CBB7-16DD-0366-EA03-656378A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768" y="6421595"/>
            <a:ext cx="11895020" cy="365125"/>
          </a:xfrm>
        </p:spPr>
        <p:txBody>
          <a:bodyPr/>
          <a:lstStyle/>
          <a:p>
            <a:pPr algn="l">
              <a:defRPr/>
            </a:pPr>
            <a:r>
              <a:rPr lang="en-GB" sz="2000" b="1" dirty="0">
                <a:solidFill>
                  <a:schemeClr val="bg1"/>
                </a:solidFill>
              </a:rPr>
              <a:t>AI-Driven Unified Data Platform for Oceanographic, Fisheries, and Molecular Biodiversity Insights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5EA34A1B-D40A-4952-8DF4-8445F3D619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71280"/>
            <a:ext cx="1870219" cy="9883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Aqua Avengers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9C15E015-32D2-4308-8DCE-6339500F2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09" y="1272356"/>
            <a:ext cx="258457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TECHNOLOGY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281C44-3401-4083-A093-20438EBF6845}"/>
              </a:ext>
            </a:extLst>
          </p:cNvPr>
          <p:cNvSpPr txBox="1"/>
          <p:nvPr/>
        </p:nvSpPr>
        <p:spPr>
          <a:xfrm>
            <a:off x="609599" y="1638700"/>
            <a:ext cx="5211779" cy="44396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rPr lang="en-IN" sz="1500" u="sng" dirty="0">
                <a:latin typeface="Arial" panose="020B0604020202020204" pitchFamily="34" charset="0"/>
                <a:cs typeface="Arial" panose="020B0604020202020204" pitchFamily="34" charset="0"/>
              </a:rPr>
              <a:t>Languages </a:t>
            </a:r>
          </a:p>
          <a:p>
            <a:pPr lvl="1">
              <a:defRPr sz="2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➮Python  for 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AI/ML</a:t>
            </a:r>
          </a:p>
          <a:p>
            <a:pPr lvl="1">
              <a:defRPr sz="2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➮R  for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Statistics</a:t>
            </a:r>
          </a:p>
          <a:p>
            <a:pPr lvl="1">
              <a:defRPr sz="2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➮JavaScript (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Node.js , React/Next.js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 ) for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</a:p>
          <a:p>
            <a:pPr>
              <a:defRPr sz="2400" b="1">
                <a:solidFill>
                  <a:srgbClr val="0066CC"/>
                </a:solidFill>
              </a:defRPr>
            </a:pPr>
            <a:endParaRPr lang="en-IN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rPr lang="en-IN" sz="1500" u="sng"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</a:p>
          <a:p>
            <a:pPr>
              <a:defRPr sz="2400" b="1">
                <a:solidFill>
                  <a:srgbClr val="0066CC"/>
                </a:solidFill>
              </a:defRPr>
            </a:pPr>
            <a:endParaRPr lang="en-IN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2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➮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PostgreSQL 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2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➮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MongoDB 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2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➮</a:t>
            </a:r>
            <a:r>
              <a:rPr lang="en-I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MinIO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defRPr sz="2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➮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</a:p>
          <a:p>
            <a:pPr>
              <a:defRPr sz="2400" b="1">
                <a:solidFill>
                  <a:srgbClr val="0066CC"/>
                </a:solidFill>
              </a:defRPr>
            </a:pPr>
            <a:endParaRPr lang="en-I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rPr lang="en-GB" sz="1500" u="sng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500" u="sng" dirty="0" err="1">
                <a:latin typeface="Arial" panose="020B0604020202020204" pitchFamily="34" charset="0"/>
                <a:cs typeface="Arial" panose="020B0604020202020204" pitchFamily="34" charset="0"/>
              </a:rPr>
              <a:t>nfrastructur</a:t>
            </a:r>
            <a:r>
              <a:rPr lang="en-IN" sz="1500" u="sng" dirty="0">
                <a:latin typeface="Arial" panose="020B0604020202020204" pitchFamily="34" charset="0"/>
                <a:cs typeface="Arial" panose="020B0604020202020204" pitchFamily="34" charset="0"/>
              </a:rPr>
              <a:t>e &amp; Frameworks</a:t>
            </a:r>
          </a:p>
          <a:p>
            <a:pPr>
              <a:defRPr sz="2400" b="1">
                <a:solidFill>
                  <a:srgbClr val="0066CC"/>
                </a:solidFill>
              </a:defRPr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 sz="2000"/>
            </a:pPr>
            <a:r>
              <a:rPr lang="en-IN" sz="1500" b="1" dirty="0">
                <a:latin typeface="+mj-lt"/>
                <a:cs typeface="Arial" panose="020B0604020202020204" pitchFamily="34" charset="0"/>
              </a:rPr>
              <a:t>➮TensorFlow    ➮ </a:t>
            </a:r>
            <a:r>
              <a:rPr lang="en-IN" sz="1500" b="1" dirty="0" err="1">
                <a:latin typeface="+mj-lt"/>
                <a:cs typeface="Arial" panose="020B0604020202020204" pitchFamily="34" charset="0"/>
              </a:rPr>
              <a:t>PyTorch</a:t>
            </a:r>
            <a:endParaRPr lang="en-IN" sz="1500" b="1" dirty="0">
              <a:latin typeface="+mj-lt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 sz="2000"/>
            </a:pPr>
            <a:r>
              <a:rPr lang="en-IN" sz="1500" b="1" dirty="0">
                <a:latin typeface="+mj-lt"/>
                <a:cs typeface="Arial" panose="020B0604020202020204" pitchFamily="34" charset="0"/>
              </a:rPr>
              <a:t>➮Scikit-learn    ➮  D3.js</a:t>
            </a:r>
          </a:p>
          <a:p>
            <a:pPr lvl="2">
              <a:lnSpc>
                <a:spcPct val="150000"/>
              </a:lnSpc>
              <a:defRPr sz="2000"/>
            </a:pPr>
            <a:r>
              <a:rPr lang="en-IN" sz="1500" b="1" dirty="0">
                <a:latin typeface="+mj-lt"/>
                <a:cs typeface="Arial" panose="020B0604020202020204" pitchFamily="34" charset="0"/>
              </a:rPr>
              <a:t>➮</a:t>
            </a:r>
            <a:r>
              <a:rPr lang="en-IN" sz="1500" b="1" dirty="0" err="1">
                <a:latin typeface="+mj-lt"/>
                <a:cs typeface="Arial" panose="020B0604020202020204" pitchFamily="34" charset="0"/>
              </a:rPr>
              <a:t>Plotly</a:t>
            </a:r>
            <a:r>
              <a:rPr lang="en-IN" sz="1500" b="1" dirty="0">
                <a:latin typeface="+mj-lt"/>
                <a:cs typeface="Arial" panose="020B0604020202020204" pitchFamily="34" charset="0"/>
              </a:rPr>
              <a:t>              ➮  </a:t>
            </a:r>
            <a:r>
              <a:rPr lang="en-IN" sz="1400" b="1" dirty="0">
                <a:latin typeface="+mj-lt"/>
              </a:rPr>
              <a:t>Spark</a:t>
            </a:r>
          </a:p>
          <a:p>
            <a:pPr lvl="2">
              <a:lnSpc>
                <a:spcPct val="150000"/>
              </a:lnSpc>
              <a:defRPr sz="2000"/>
            </a:pPr>
            <a:r>
              <a:rPr lang="en-IN" sz="1400" b="1" dirty="0">
                <a:latin typeface="+mj-lt"/>
              </a:rPr>
              <a:t>➮BLAST+             ➮  OBIS/NCBI </a:t>
            </a:r>
          </a:p>
          <a:p>
            <a:pPr lvl="1">
              <a:defRPr sz="2000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FLOWCHART">
            <a:hlinkClick r:id="" action="ppaction://media"/>
            <a:extLst>
              <a:ext uri="{FF2B5EF4-FFF2-40B4-BE49-F238E27FC236}">
                <a16:creationId xmlns:a16="http://schemas.microsoft.com/office/drawing/2014/main" id="{7A639B6A-57DF-81C7-2AF3-FAAE024300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95124" y="1672466"/>
            <a:ext cx="5633207" cy="39763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37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 fullScrn="1">
              <p:cMediaNode vol="80000" mute="1">
                <p:cTn id="12" repeatCount="indefinite" fill="remove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415AF79-2655-D5B5-6F6D-B74C28D14952}"/>
              </a:ext>
            </a:extLst>
          </p:cNvPr>
          <p:cNvSpPr/>
          <p:nvPr/>
        </p:nvSpPr>
        <p:spPr>
          <a:xfrm>
            <a:off x="451413" y="1395246"/>
            <a:ext cx="11297564" cy="2357316"/>
          </a:xfrm>
          <a:prstGeom prst="rect">
            <a:avLst/>
          </a:prstGeom>
          <a:noFill/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1412" y="244476"/>
            <a:ext cx="10972800" cy="886752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CC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37343" y="6420151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210557-2E6A-AEF9-2281-0F9354E74D47}"/>
              </a:ext>
            </a:extLst>
          </p:cNvPr>
          <p:cNvSpPr/>
          <p:nvPr/>
        </p:nvSpPr>
        <p:spPr>
          <a:xfrm>
            <a:off x="447217" y="3888266"/>
            <a:ext cx="5336895" cy="2357316"/>
          </a:xfrm>
          <a:prstGeom prst="rect">
            <a:avLst/>
          </a:prstGeom>
          <a:noFill/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55586E-8801-C010-6A94-3B586DE9693E}"/>
              </a:ext>
            </a:extLst>
          </p:cNvPr>
          <p:cNvSpPr/>
          <p:nvPr/>
        </p:nvSpPr>
        <p:spPr>
          <a:xfrm>
            <a:off x="5954234" y="3888266"/>
            <a:ext cx="5794744" cy="2357316"/>
          </a:xfrm>
          <a:prstGeom prst="rect">
            <a:avLst/>
          </a:prstGeom>
          <a:noFill/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3E8DFC-20B6-4390-8039-CB673810A3F1}"/>
              </a:ext>
            </a:extLst>
          </p:cNvPr>
          <p:cNvSpPr txBox="1"/>
          <p:nvPr/>
        </p:nvSpPr>
        <p:spPr>
          <a:xfrm>
            <a:off x="606582" y="1610772"/>
            <a:ext cx="103147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 </a:t>
            </a:r>
            <a:r>
              <a:rPr lang="en-IN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</a:p>
          <a:p>
            <a:endParaRPr lang="en-IN" b="1" dirty="0">
              <a:solidFill>
                <a:srgbClr val="FD69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Proven Open-Source Stack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(Python, React, Docker) : Reliable &amp; low-risk.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Modular &amp; Cloud-Ready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: Scalable, Containerized workflows (Oceanography, Fisheries, eDNA).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Interoperable &amp; Standards-Compliant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: Smooth Integration with Global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Strong Community Support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: Reduces Risk, Accelerates Innovation.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9EFD69-B2C7-4F75-A239-D696ECAA8542}"/>
              </a:ext>
            </a:extLst>
          </p:cNvPr>
          <p:cNvSpPr txBox="1"/>
          <p:nvPr/>
        </p:nvSpPr>
        <p:spPr>
          <a:xfrm>
            <a:off x="606582" y="4170524"/>
            <a:ext cx="502288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Challenges &amp; Risks</a:t>
            </a:r>
          </a:p>
          <a:p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Messy, Inconsistent data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Frequent API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Model accuracy doubts.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(DATA OVERFITTING)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Scaling for big datasets ( ALL OCEANS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Data Privacy concerns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65B8F8-0EF9-4BFB-BA2B-334D3D4A1A2F}"/>
              </a:ext>
            </a:extLst>
          </p:cNvPr>
          <p:cNvSpPr txBox="1"/>
          <p:nvPr/>
        </p:nvSpPr>
        <p:spPr>
          <a:xfrm>
            <a:off x="6095999" y="4055623"/>
            <a:ext cx="5053892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to Overcome</a:t>
            </a:r>
          </a:p>
          <a:p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Use validators &amp; converters for clean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Implement version-locked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Regular expert validation &amp; retraining.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Auto-scaling with Kubernetes for big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No-code intuitive UI for easy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Secure, private workspaces for compliance.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42F8BFC-BB13-7709-CB38-968947F39D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71280"/>
            <a:ext cx="1870219" cy="9883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Aqua Avengers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431A09DD-E84F-8994-3462-EB4AB7C2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768" y="6421595"/>
            <a:ext cx="11895020" cy="365125"/>
          </a:xfrm>
        </p:spPr>
        <p:txBody>
          <a:bodyPr/>
          <a:lstStyle/>
          <a:p>
            <a:pPr algn="l">
              <a:defRPr/>
            </a:pPr>
            <a:r>
              <a:rPr lang="en-GB" sz="2000" b="1" dirty="0">
                <a:solidFill>
                  <a:schemeClr val="bg1"/>
                </a:solidFill>
              </a:rPr>
              <a:t>AI-Driven Unified Data Platform for Oceanographic, Fisheries, and Molecular Biodiversity Insights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479A50-0BDD-DB3A-D265-A1129C501CC1}"/>
              </a:ext>
            </a:extLst>
          </p:cNvPr>
          <p:cNvSpPr/>
          <p:nvPr/>
        </p:nvSpPr>
        <p:spPr>
          <a:xfrm>
            <a:off x="247583" y="1179965"/>
            <a:ext cx="5551334" cy="4871763"/>
          </a:xfrm>
          <a:prstGeom prst="rect">
            <a:avLst/>
          </a:prstGeom>
          <a:noFill/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3356" y="1179965"/>
            <a:ext cx="1512281" cy="503238"/>
          </a:xfrm>
        </p:spPr>
        <p:txBody>
          <a:bodyPr/>
          <a:lstStyle/>
          <a:p>
            <a:pPr eaLnBrk="1" hangingPunct="1"/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8556" y="1859149"/>
            <a:ext cx="5096443" cy="3370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Audience Impact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access to </a:t>
            </a:r>
            <a:r>
              <a:rPr lang="en-US" altLang="en-US" sz="1600" b="1" dirty="0">
                <a:latin typeface="Arial" panose="020B0604020202020204" pitchFamily="34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ntegrated marine data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insights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scientists &amp; fisheries managers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and learning tools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students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Policymakers get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evidence-based decisions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Long-Term Value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Fosters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science &amp; reproducibility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Accelerates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innovation in marine research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conservation policies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India’s Blue Economy &amp; SDG-14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82947" y="643577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5B5F46A-9B84-254F-09EA-1B79F4E7653D}"/>
              </a:ext>
            </a:extLst>
          </p:cNvPr>
          <p:cNvSpPr txBox="1">
            <a:spLocks/>
          </p:cNvSpPr>
          <p:nvPr/>
        </p:nvSpPr>
        <p:spPr bwMode="auto">
          <a:xfrm>
            <a:off x="6095999" y="890169"/>
            <a:ext cx="220912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4295A-7970-7A3C-71FC-CBEE2A062F1C}"/>
              </a:ext>
            </a:extLst>
          </p:cNvPr>
          <p:cNvSpPr/>
          <p:nvPr/>
        </p:nvSpPr>
        <p:spPr>
          <a:xfrm>
            <a:off x="6311217" y="1179965"/>
            <a:ext cx="5551334" cy="4871763"/>
          </a:xfrm>
          <a:prstGeom prst="rect">
            <a:avLst/>
          </a:prstGeom>
          <a:noFill/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7D1A9BF-CA50-7E3C-3D86-5D16F2C5F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400" y="1768082"/>
            <a:ext cx="5134077" cy="3708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1600" dirty="0"/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Social Benefit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marine data silos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collaboration across domains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No-code tools for non-tech users</a:t>
            </a:r>
          </a:p>
          <a:p>
            <a:pPr algn="just"/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600" dirty="0"/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Economic Benefit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Cuts time &amp; cost of data cleaning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decision-making with AI/ML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Boosts evidence-based marine policies</a:t>
            </a:r>
          </a:p>
          <a:p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/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Environmental Benefit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sustainable resource management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biodiversity conservation</a:t>
            </a:r>
          </a:p>
          <a:p>
            <a:pPr marL="6254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SDG-14: Life Below Water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defRPr/>
            </a:pPr>
            <a:endParaRPr lang="en-IN" sz="17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91B99F15-FDE5-83BF-2BD2-BFACC27C8E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71280"/>
            <a:ext cx="1870219" cy="9883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Aqua Avengers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C59E98-EF87-7CF7-513B-4C5A2889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768" y="6421595"/>
            <a:ext cx="11895020" cy="365125"/>
          </a:xfrm>
        </p:spPr>
        <p:txBody>
          <a:bodyPr/>
          <a:lstStyle/>
          <a:p>
            <a:pPr algn="l">
              <a:defRPr/>
            </a:pPr>
            <a:r>
              <a:rPr lang="en-GB" sz="2000" b="1" dirty="0">
                <a:solidFill>
                  <a:schemeClr val="bg1"/>
                </a:solidFill>
              </a:rPr>
              <a:t>AI-Driven Unified Data Platform for Oceanographic, Fisheries, and Molecular Biodiversity Insights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1412" y="103798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29879" y="1668212"/>
            <a:ext cx="93853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IN" sz="2000" b="1" dirty="0"/>
              <a:t>Key References &amp; Useful Links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i="1" dirty="0"/>
              <a:t>OBIS Manual  DNA derived data</a:t>
            </a:r>
            <a:r>
              <a:rPr lang="en-IN" dirty="0"/>
              <a:t> (guidelines) Darwin Core extension, methods for linking occurrence and genetic data. </a:t>
            </a:r>
            <a:r>
              <a:rPr lang="en-IN" dirty="0">
                <a:hlinkClick r:id="rId3"/>
              </a:rPr>
              <a:t>manual.obis.org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i="1" dirty="0"/>
              <a:t>Publishing DNA-derived data through biodiversity data platforms</a:t>
            </a:r>
            <a:r>
              <a:rPr lang="en-IN" dirty="0"/>
              <a:t> (GBIF / OBIS guide) </a:t>
            </a:r>
            <a:r>
              <a:rPr lang="en-IN" dirty="0">
                <a:hlinkClick r:id="rId4"/>
              </a:rPr>
              <a:t>docs.gbif.org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i="1" dirty="0"/>
              <a:t>Case Study in Sharing Marine eDNA Metabarcoding Data to OBIS</a:t>
            </a:r>
            <a:r>
              <a:rPr lang="en-IN" dirty="0"/>
              <a:t> (NOAA, 2023) </a:t>
            </a:r>
            <a:r>
              <a:rPr lang="en-IN" dirty="0">
                <a:hlinkClick r:id="rId5"/>
              </a:rPr>
              <a:t>NOAA Institutional Repository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i="1" dirty="0"/>
              <a:t>MIEM guidelines: Minimum Information for Reporting of eDNA Metabarcoding</a:t>
            </a:r>
            <a:r>
              <a:rPr lang="en-IN" dirty="0"/>
              <a:t> (2024) </a:t>
            </a:r>
            <a:r>
              <a:rPr lang="en-IN" dirty="0">
                <a:hlinkClick r:id="rId6"/>
              </a:rPr>
              <a:t>mbmg.pensoft.net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i="1" dirty="0" err="1"/>
              <a:t>FathomNet</a:t>
            </a:r>
            <a:r>
              <a:rPr lang="en-IN" i="1" dirty="0"/>
              <a:t>: Global image dataset for AI in marine imagery</a:t>
            </a:r>
            <a:r>
              <a:rPr lang="en-IN" dirty="0"/>
              <a:t> </a:t>
            </a:r>
            <a:r>
              <a:rPr lang="en-IN" dirty="0" err="1">
                <a:hlinkClick r:id="rId7"/>
              </a:rPr>
              <a:t>arXiv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i="1" dirty="0"/>
              <a:t>BOLD v4: The Barcode of Life Data System</a:t>
            </a:r>
            <a:r>
              <a:rPr lang="en-IN" dirty="0"/>
              <a:t> </a:t>
            </a:r>
            <a:r>
              <a:rPr lang="en-IN" dirty="0" err="1">
                <a:hlinkClick r:id="rId8"/>
              </a:rPr>
              <a:t>arXiv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i="1" dirty="0" err="1"/>
              <a:t>IndOBIS</a:t>
            </a:r>
            <a:r>
              <a:rPr lang="en-IN" i="1" dirty="0"/>
              <a:t> – Indian Ocean Biodiversity Information System</a:t>
            </a:r>
            <a:r>
              <a:rPr lang="en-IN" dirty="0"/>
              <a:t> </a:t>
            </a:r>
            <a:r>
              <a:rPr lang="en-IN" dirty="0">
                <a:hlinkClick r:id="rId9"/>
              </a:rPr>
              <a:t>indobis.in</a:t>
            </a:r>
            <a:endParaRPr lang="en-IN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4172" y="640951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57CEE7-B0EA-BE97-B49C-3E91A8E0068F}"/>
              </a:ext>
            </a:extLst>
          </p:cNvPr>
          <p:cNvSpPr/>
          <p:nvPr/>
        </p:nvSpPr>
        <p:spPr>
          <a:xfrm>
            <a:off x="451412" y="1395245"/>
            <a:ext cx="11457053" cy="4839131"/>
          </a:xfrm>
          <a:prstGeom prst="rect">
            <a:avLst/>
          </a:prstGeom>
          <a:noFill/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A5846B3-DE9D-FB84-25A6-D3AA92FC1C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71280"/>
            <a:ext cx="1870219" cy="9883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Aqua Avengers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DEBB705-1405-C46C-C2AD-1658E211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768" y="6421595"/>
            <a:ext cx="11895020" cy="365125"/>
          </a:xfrm>
        </p:spPr>
        <p:txBody>
          <a:bodyPr/>
          <a:lstStyle/>
          <a:p>
            <a:pPr algn="l">
              <a:defRPr/>
            </a:pPr>
            <a:r>
              <a:rPr lang="en-GB" sz="2000" b="1" dirty="0">
                <a:solidFill>
                  <a:schemeClr val="bg1"/>
                </a:solidFill>
              </a:rPr>
              <a:t>AI-Driven Unified Data Platform for Oceanographic, Fisheries, and Molecular Biodiversity Insights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12095</TotalTime>
  <Words>733</Words>
  <Application>Microsoft Office PowerPoint</Application>
  <PresentationFormat>Widescreen</PresentationFormat>
  <Paragraphs>144</Paragraphs>
  <Slides>6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Aharoni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MARINEXPLORE</vt:lpstr>
      <vt:lpstr>TECHNICAL APPROACH</vt:lpstr>
      <vt:lpstr>FEASIBILITY AND VIABILITY</vt:lpstr>
      <vt:lpstr>IMPACT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JP M</cp:lastModifiedBy>
  <cp:revision>156</cp:revision>
  <dcterms:created xsi:type="dcterms:W3CDTF">2013-12-12T18:46:50Z</dcterms:created>
  <dcterms:modified xsi:type="dcterms:W3CDTF">2025-12-12T07:45:03Z</dcterms:modified>
  <cp:category/>
</cp:coreProperties>
</file>